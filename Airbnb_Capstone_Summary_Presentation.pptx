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12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Airbnb Occupancy Drivers in Albany, NY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17556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2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factors are associated with higher estimated occupancy?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summary presentation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971800"/>
            <a:ext cx="1101852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3730752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Airbnb listings to identify which listing characteristics, host attributes, neighborhoods, and amenities are linked to stronger booking performance.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Airbnb Occupancy Capstone  |  1/6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Workflow: from raw listings to business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focused on estimated occupancy because pricing and revenue data were incomplete.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01852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411480" cy="347472"/>
          </a:xfrm>
          <a:prstGeom prst="rect">
            <a:avLst/>
          </a:prstGeom>
          <a:solidFill>
            <a:srgbClr val="E7F6F6"/>
          </a:solidFill>
          <a:ln>
            <a:solidFill>
              <a:srgbClr val="E7F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the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1872" y="203911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Handled missing values, fixed data types, checked duplicates, and grouped property types and grouped amenity types by category.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13232" y="2788920"/>
            <a:ext cx="411480" cy="347472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Explored patterns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1872" y="309067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relationships between occupancy and location, property type, superhost status and property amenities.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13232" y="3840480"/>
            <a:ext cx="411480" cy="347472"/>
          </a:xfrm>
          <a:prstGeom prst="rect">
            <a:avLst/>
          </a:prstGeom>
          <a:solidFill>
            <a:srgbClr val="E7F6F6"/>
          </a:solidFill>
          <a:ln>
            <a:solidFill>
              <a:srgbClr val="E7F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key relationships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61872" y="41422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superhosts vs. non-superhosts and ran a Welch’s t-test. 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13232" y="4892040"/>
            <a:ext cx="411480" cy="347472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Segmented the market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51937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high- and low-occupancy neighborhoods, property types, and amenity categories.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9808" y="59618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2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target metric: estimated occupancy in the last 365 days.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Airbnb Occupancy Capstone  |  2/6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insight 1: demand is uneven, and superhosts stand 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 is concentrated among a smaller group of high-performing listings.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01852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733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Superhost listings had much stronger occupancy than non-superhost listings.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6C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113.69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308152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occupied days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Superhost listings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9000" y="25146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36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49.65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30815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occupied days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Non-superhost listings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25146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 vs 12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55080" y="30815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occupied days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Superhost vs non-superhost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5146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8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 &lt; .001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235440" y="30815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Welch’s t-test confirmed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significant difference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698981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" y="4956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Superhost status is one of the clearest indicators of stronger booking performance, but it should be interpreted as association rather than causation.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Airbnb Occupancy Capstone  |  3/6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insight 2: location matters, but it is not the whole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01852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median occupancy neighborhoods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023360" cy="457200"/>
          </a:xfrm>
          <a:prstGeom prst="rect">
            <a:avLst/>
          </a:prstGeom>
          <a:solidFill>
            <a:srgbClr val="E7F6F6"/>
          </a:solidFill>
          <a:ln>
            <a:solidFill>
              <a:srgbClr val="E7F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Fourteenth Ward — 126 median days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023360" cy="457200"/>
          </a:xfrm>
          <a:prstGeom prst="rect">
            <a:avLst/>
          </a:prstGeom>
          <a:solidFill>
            <a:srgbClr val="E7F6F6"/>
          </a:solidFill>
          <a:ln>
            <a:solidFill>
              <a:srgbClr val="E7F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Fifteenth Ward — 108 median days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4023360" cy="457200"/>
          </a:xfrm>
          <a:prstGeom prst="rect">
            <a:avLst/>
          </a:prstGeom>
          <a:solidFill>
            <a:srgbClr val="E7F6F6"/>
          </a:solidFill>
          <a:ln>
            <a:solidFill>
              <a:srgbClr val="E7F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Ward — 108 median days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630314"/>
            <a:ext cx="3734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had strong occupancy and the highest median reviews per month, despite a lower superhost rate than other top-performing wards.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93597" y="5664708"/>
            <a:ext cx="47211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r>
              <a:rPr lang="en-US" sz="17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neighborhood is associated with occupancy, but high and low performers can still exist within the same area.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Airbnb Occupancy Capstone  |  4/6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805D86-5341-7D41-2AC8-AC3C45308C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83" t="23256" r="66" b="1853"/>
          <a:stretch>
            <a:fillRect/>
          </a:stretch>
        </p:blipFill>
        <p:spPr>
          <a:xfrm>
            <a:off x="6586126" y="1373802"/>
            <a:ext cx="4828634" cy="4133359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777240" y="4251960"/>
            <a:ext cx="3467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Second Ward is notable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Top-performing neighborhoods showed higher median occupancy, but listing-level factors still matter.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5664708"/>
            <a:ext cx="37113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suggests location-based demand may be especially strong there.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insight 3: property type is not enough — amenities add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Entire-place listings dominate, but occupancy differences appear tied to multiple listing-level features.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01852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73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type finding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Entire-place listings dominate the market and appear in both high- and low-performing neighborhoods. So property type alone does not explain occupancy.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0" y="1673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Amenity categories with higher median occupancy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148840"/>
            <a:ext cx="3931920" cy="438912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/ water access: +90 days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2761488"/>
            <a:ext cx="3931920" cy="438912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Family-friendly: +51 days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0" y="3374136"/>
            <a:ext cx="3931920" cy="438912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 check-in: +50 days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572000"/>
            <a:ext cx="1101852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4965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04672" y="53492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or water access had the largest gap, but only 33 listings had that feature. Self check-in may be a more practical improvement because it had a stronger sample size.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Airbnb Occupancy Capstone  |  5/6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and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recommendations focus on service quality, convenience, and careful location evaluation.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01852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52578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20" b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superhost-level standards</a:t>
            </a: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responsiveness, accuracy, cleanliness, reliability, and guest experience.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practical convenience amenities, especially</a:t>
            </a:r>
            <a:r>
              <a:rPr lang="en-US" sz="16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20" b="1" dirty="0">
                <a:solidFill>
                  <a:schemeClr val="accent6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 check-in</a:t>
            </a:r>
            <a:r>
              <a:rPr lang="en-US" sz="16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 </a:t>
            </a: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</a:t>
            </a:r>
            <a:r>
              <a:rPr lang="en-US" sz="1620" b="1" dirty="0">
                <a:solidFill>
                  <a:schemeClr val="accent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family-friendly</a:t>
            </a: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features where feasible.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Evaluate neighborhood demand carefully but </a:t>
            </a:r>
            <a:r>
              <a:rPr lang="en-US" sz="1620" b="1" dirty="0">
                <a:solidFill>
                  <a:schemeClr val="accent5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relying on location</a:t>
            </a: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or property type alone.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to mention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2176272"/>
            <a:ext cx="49834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Results show association, not causation.</a:t>
            </a: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groups are small, especially view / water access listings.</a:t>
            </a: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pricing and revenue data limited profitability analysis.</a:t>
            </a: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Amenity categories were manually grouped; geography used point locations without ward boundaries.</a:t>
            </a:r>
            <a:endParaRPr lang="en-US" sz="1560" dirty="0"/>
          </a:p>
        </p:txBody>
      </p:sp>
      <p:sp>
        <p:nvSpPr>
          <p:cNvPr id="9" name="Shape 7"/>
          <p:cNvSpPr/>
          <p:nvPr/>
        </p:nvSpPr>
        <p:spPr>
          <a:xfrm>
            <a:off x="594360" y="5047488"/>
            <a:ext cx="1101852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5440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higher occupancy appears to come from a combination of host quality, location demand, and practical guest-centered listing features.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Airbnb Occupancy Capstone  |  6/6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642</Words>
  <Application>Microsoft Office PowerPoint</Application>
  <PresentationFormat>Widescreen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General Assembly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Occupancy Drivers</dc:title>
  <dc:subject>Airbnb Capstone Findings</dc:subject>
  <dc:creator>OpenAI</dc:creator>
  <cp:lastModifiedBy>Natalia Amaya</cp:lastModifiedBy>
  <cp:revision>4</cp:revision>
  <dcterms:created xsi:type="dcterms:W3CDTF">2026-05-20T21:47:31Z</dcterms:created>
  <dcterms:modified xsi:type="dcterms:W3CDTF">2026-05-20T22:10:40Z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2026-05-20T22:03:22Z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8635ede2-cb31-4147-bfa5-98970c9cba26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10, 3, 0, 1</vt:lpwstr>
  </property>
</Properties>
</file>